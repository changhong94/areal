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04aae33b234275" /><Relationship Type="http://schemas.openxmlformats.org/officeDocument/2006/relationships/extended-properties" Target="/docProps/app.xml" Id="Rffd0a41c4eaa40f5" /><Relationship Type="http://schemas.openxmlformats.org/officeDocument/2006/relationships/officeDocument" Target="/ppt/presentation.xml" Id="R3a2f9f9b37e443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93e5cef4764f36"/>
  </p:sldMasterIdLst>
  <p:notesMasterIdLst>
    <p:notesMasterId xmlns:r="http://schemas.openxmlformats.org/officeDocument/2006/relationships" r:id="R5a543c526b9f4828"/>
  </p:notesMasterIdLst>
  <p:sldIdLst>
    <p:sldId xmlns:r="http://schemas.openxmlformats.org/officeDocument/2006/relationships" id="256" r:id="R1715cb377d21449f"/>
    <p:sldId xmlns:r="http://schemas.openxmlformats.org/officeDocument/2006/relationships" id="257" r:id="R90578b05a81349e3"/>
    <p:sldId xmlns:r="http://schemas.openxmlformats.org/officeDocument/2006/relationships" id="258" r:id="Rff6714e678e74c68"/>
    <p:sldId xmlns:r="http://schemas.openxmlformats.org/officeDocument/2006/relationships" id="259" r:id="Rd6430466508a4ef3"/>
    <p:sldId xmlns:r="http://schemas.openxmlformats.org/officeDocument/2006/relationships" id="260" r:id="R2f3bef452fed4486"/>
    <p:sldId xmlns:r="http://schemas.openxmlformats.org/officeDocument/2006/relationships" id="261" r:id="Rdee5b21fc73b4eb3"/>
    <p:sldId xmlns:r="http://schemas.openxmlformats.org/officeDocument/2006/relationships" id="262" r:id="R6e73b3e763394f57"/>
    <p:sldId xmlns:r="http://schemas.openxmlformats.org/officeDocument/2006/relationships" id="263" r:id="Rc2a3c52c40ad420b"/>
    <p:sldId xmlns:r="http://schemas.openxmlformats.org/officeDocument/2006/relationships" id="264" r:id="Rc36ad8eeab7d4c9a"/>
    <p:sldId xmlns:r="http://schemas.openxmlformats.org/officeDocument/2006/relationships" id="265" r:id="Raf8740503f4c4d9f"/>
    <p:sldId xmlns:r="http://schemas.openxmlformats.org/officeDocument/2006/relationships" id="266" r:id="R4163b49bbe5a4f4c"/>
    <p:sldId xmlns:r="http://schemas.openxmlformats.org/officeDocument/2006/relationships" id="267" r:id="Rd61ee568aa814783"/>
    <p:sldId xmlns:r="http://schemas.openxmlformats.org/officeDocument/2006/relationships" id="268" r:id="R7bdd94a835f84cbe"/>
    <p:sldId xmlns:r="http://schemas.openxmlformats.org/officeDocument/2006/relationships" id="269" r:id="R458ba613632e4d77"/>
    <p:sldId xmlns:r="http://schemas.openxmlformats.org/officeDocument/2006/relationships" id="270" r:id="R07b9b223b9984248"/>
    <p:sldId xmlns:r="http://schemas.openxmlformats.org/officeDocument/2006/relationships" id="271" r:id="R57e205dcb3a9467f"/>
    <p:sldId xmlns:r="http://schemas.openxmlformats.org/officeDocument/2006/relationships" id="272" r:id="Raf868aeb0bb04447"/>
    <p:sldId xmlns:r="http://schemas.openxmlformats.org/officeDocument/2006/relationships" id="273" r:id="Rc93d2fb1d8f942b8"/>
    <p:sldId xmlns:r="http://schemas.openxmlformats.org/officeDocument/2006/relationships" id="274" r:id="Rac0454844d79498e"/>
    <p:sldId xmlns:r="http://schemas.openxmlformats.org/officeDocument/2006/relationships" id="275" r:id="Rc41ce819eb4a47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aed079ee649d3" /><Relationship Type="http://schemas.openxmlformats.org/officeDocument/2006/relationships/slideMaster" Target="/ppt/slideMasters/slideMaster1.xml" Id="R0d93e5cef4764f36" /><Relationship Type="http://schemas.openxmlformats.org/officeDocument/2006/relationships/notesMaster" Target="/ppt/notesMasters/notesMaster1.xml" Id="R5a543c526b9f4828" /><Relationship Type="http://schemas.openxmlformats.org/officeDocument/2006/relationships/presProps" Target="/ppt/presProps.xml" Id="Rd92f4cd27b5b40b5" /><Relationship Type="http://schemas.openxmlformats.org/officeDocument/2006/relationships/tableStyles" Target="/ppt/tableStyles.xml" Id="Rbaf9ab312e6640f9" /><Relationship Type="http://schemas.openxmlformats.org/officeDocument/2006/relationships/slide" Target="/ppt/slides/slide1.xml" Id="R1715cb377d21449f" /><Relationship Type="http://schemas.openxmlformats.org/officeDocument/2006/relationships/slide" Target="/ppt/slides/slide2.xml" Id="R90578b05a81349e3" /><Relationship Type="http://schemas.openxmlformats.org/officeDocument/2006/relationships/slide" Target="/ppt/slides/slide3.xml" Id="Rff6714e678e74c68" /><Relationship Type="http://schemas.openxmlformats.org/officeDocument/2006/relationships/slide" Target="/ppt/slides/slide4.xml" Id="Rd6430466508a4ef3" /><Relationship Type="http://schemas.openxmlformats.org/officeDocument/2006/relationships/slide" Target="/ppt/slides/slide5.xml" Id="R2f3bef452fed4486" /><Relationship Type="http://schemas.openxmlformats.org/officeDocument/2006/relationships/slide" Target="/ppt/slides/slide6.xml" Id="Rdee5b21fc73b4eb3" /><Relationship Type="http://schemas.openxmlformats.org/officeDocument/2006/relationships/slide" Target="/ppt/slides/slide7.xml" Id="R6e73b3e763394f57" /><Relationship Type="http://schemas.openxmlformats.org/officeDocument/2006/relationships/slide" Target="/ppt/slides/slide8.xml" Id="Rc2a3c52c40ad420b" /><Relationship Type="http://schemas.openxmlformats.org/officeDocument/2006/relationships/slide" Target="/ppt/slides/slide9.xml" Id="Rc36ad8eeab7d4c9a" /><Relationship Type="http://schemas.openxmlformats.org/officeDocument/2006/relationships/slide" Target="/ppt/slides/slide10.xml" Id="Raf8740503f4c4d9f" /><Relationship Type="http://schemas.openxmlformats.org/officeDocument/2006/relationships/slide" Target="/ppt/slides/slide11.xml" Id="R4163b49bbe5a4f4c" /><Relationship Type="http://schemas.openxmlformats.org/officeDocument/2006/relationships/slide" Target="/ppt/slides/slide12.xml" Id="Rd61ee568aa814783" /><Relationship Type="http://schemas.openxmlformats.org/officeDocument/2006/relationships/slide" Target="/ppt/slides/slide13.xml" Id="R7bdd94a835f84cbe" /><Relationship Type="http://schemas.openxmlformats.org/officeDocument/2006/relationships/slide" Target="/ppt/slides/slide14.xml" Id="R458ba613632e4d77" /><Relationship Type="http://schemas.openxmlformats.org/officeDocument/2006/relationships/slide" Target="/ppt/slides/slide15.xml" Id="R07b9b223b9984248" /><Relationship Type="http://schemas.openxmlformats.org/officeDocument/2006/relationships/slide" Target="/ppt/slides/slide16.xml" Id="R57e205dcb3a9467f" /><Relationship Type="http://schemas.openxmlformats.org/officeDocument/2006/relationships/slide" Target="/ppt/slides/slide17.xml" Id="Raf868aeb0bb04447" /><Relationship Type="http://schemas.openxmlformats.org/officeDocument/2006/relationships/slide" Target="/ppt/slides/slide18.xml" Id="Rc93d2fb1d8f942b8" /><Relationship Type="http://schemas.openxmlformats.org/officeDocument/2006/relationships/slide" Target="/ppt/slides/slide19.xml" Id="Rac0454844d79498e" /><Relationship Type="http://schemas.openxmlformats.org/officeDocument/2006/relationships/slide" Target="/ppt/slides/slide20.xml" Id="Rc41ce819eb4a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7379457ee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dbad7a6dbb4420" /><Relationship Type="http://schemas.openxmlformats.org/officeDocument/2006/relationships/notesMaster" Target="/ppt/notesMasters/notesMaster1.xml" Id="R05bff955d14649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9b6da832124669" /><Relationship Type="http://schemas.openxmlformats.org/officeDocument/2006/relationships/notesMaster" Target="/ppt/notesMasters/notesMaster1.xml" Id="Refa373cf2670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8bdf2084a843c0" /><Relationship Type="http://schemas.openxmlformats.org/officeDocument/2006/relationships/notesMaster" Target="/ppt/notesMasters/notesMaster1.xml" Id="R0807fb68722945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b3df09bed4301" /><Relationship Type="http://schemas.openxmlformats.org/officeDocument/2006/relationships/notesMaster" Target="/ppt/notesMasters/notesMaster1.xml" Id="R623d535690314e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ee504e433243fb" /><Relationship Type="http://schemas.openxmlformats.org/officeDocument/2006/relationships/notesMaster" Target="/ppt/notesMasters/notesMaster1.xml" Id="R82323bf76c6a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d9391f650b4cd8" /><Relationship Type="http://schemas.openxmlformats.org/officeDocument/2006/relationships/notesMaster" Target="/ppt/notesMasters/notesMaster1.xml" Id="R4728be86434e4d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63202d7e3b44c8" /><Relationship Type="http://schemas.openxmlformats.org/officeDocument/2006/relationships/notesMaster" Target="/ppt/notesMasters/notesMaster1.xml" Id="Rf1f988362e6349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f4fbe89b9b4acf" /><Relationship Type="http://schemas.openxmlformats.org/officeDocument/2006/relationships/notesMaster" Target="/ppt/notesMasters/notesMaster1.xml" Id="R4d79314fcf7d48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9ed993509744be" /><Relationship Type="http://schemas.openxmlformats.org/officeDocument/2006/relationships/notesMaster" Target="/ppt/notesMasters/notesMaster1.xml" Id="Rd5ed6a3e5d1546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33ca1070af4f17" /><Relationship Type="http://schemas.openxmlformats.org/officeDocument/2006/relationships/notesMaster" Target="/ppt/notesMasters/notesMaster1.xml" Id="R7f9020e64da24b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677472d7734503" /><Relationship Type="http://schemas.openxmlformats.org/officeDocument/2006/relationships/notesMaster" Target="/ppt/notesMasters/notesMaster1.xml" Id="R2bd607d5e5ae4c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ed8d24e2e04766" /><Relationship Type="http://schemas.openxmlformats.org/officeDocument/2006/relationships/notesMaster" Target="/ppt/notesMasters/notesMaster1.xml" Id="Rbd98cfc5e65145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342e1e63814fa9" /><Relationship Type="http://schemas.openxmlformats.org/officeDocument/2006/relationships/notesMaster" Target="/ppt/notesMasters/notesMaster1.xml" Id="Rbb71dbb3830d4a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c32bc0b9544793" /><Relationship Type="http://schemas.openxmlformats.org/officeDocument/2006/relationships/notesMaster" Target="/ppt/notesMasters/notesMaster1.xml" Id="R35a4ff7dd99145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cd75b9795344ce" /><Relationship Type="http://schemas.openxmlformats.org/officeDocument/2006/relationships/notesMaster" Target="/ppt/notesMasters/notesMaster1.xml" Id="Rbab5aeb975cf40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616c2cba15478f" /><Relationship Type="http://schemas.openxmlformats.org/officeDocument/2006/relationships/notesMaster" Target="/ppt/notesMasters/notesMaster1.xml" Id="R240c1335f7704c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75b74c47844214" /><Relationship Type="http://schemas.openxmlformats.org/officeDocument/2006/relationships/notesMaster" Target="/ppt/notesMasters/notesMaster1.xml" Id="R32d02fbf13b842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9f12786a8a4227" /><Relationship Type="http://schemas.openxmlformats.org/officeDocument/2006/relationships/notesMaster" Target="/ppt/notesMasters/notesMaster1.xml" Id="Ra402793a75874b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9a6c9bbcb14dc2" /><Relationship Type="http://schemas.openxmlformats.org/officeDocument/2006/relationships/notesMaster" Target="/ppt/notesMasters/notesMaster1.xml" Id="R360857ddb79046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9cbb3fb6404d67" /><Relationship Type="http://schemas.openxmlformats.org/officeDocument/2006/relationships/notesMaster" Target="/ppt/notesMasters/notesMaster1.xml" Id="R597df6997920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mechanisms coordinate resource sharing, request admission and version publication. Internal research review, draft v0.2.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/root/src/changhong94/AReaL/docs/research/npu-sharing/core-mechanisms.md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Optimize whole-loop time while preserving training semantics. More active devices alone do not establish a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/root/src/changhong94/AReaL/docs/research/npu-sharing/methodology.md</a:t>
            </a:r>
          </a:p>
          <a:p xmlns:a="http://schemas.openxmlformats.org/drawingml/2006/main">
            <a:r>
              <a:t>/root/src/changhong94/AReaL/docs/research/npu-sharing/optimizations/R007-single-npu-and-borrowing.md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 provides safe capacity. M2 assigns and admits useful work. M3 exposes replicas only after their own publication acknowledgement. R025 and R027 extend this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/root/src/changhong94/AReaL/docs/research/npu-sharing/core-mechanisms.md</a:t>
            </a:r>
          </a:p>
          <a:p xmlns:a="http://schemas.openxmlformats.org/drawingml/2006/main">
            <a:r>
              <a:t>/root/src/changhong94/AReaL/docs/research/npu-sharing/optimizations/R025-adaptive-inference-concurrency.md</a:t>
            </a:r>
          </a:p>
          <a:p xmlns:a="http://schemas.openxmlformats.org/drawingml/2006/main">
            <a:r>
              <a:t>/root/src/changhong94/AReaL/docs/research/npu-sharing/optimizations/R027-profit-aware-inference-return.md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Device roles change while the training process group and optimizer ownership remain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/root/src/changhong94/AReaL/docs/research/npu-sharing/optimizations/R007-single-npu-and-borrowing.md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Dynamic KV mapping, partial offload and prefetch retain useful state when physical memory allows. Budget checks remain mandatory.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/root/src/changhong94/AReaL/docs/research/npu-sharing/optimizations/R017-pressure-driven-partial-offload.md</a:t>
            </a:r>
          </a:p>
          <a:p xmlns:a="http://schemas.openxmlformats.org/drawingml/2006/main">
            <a:r>
              <a:t>/root/src/changhong94/AReaL/docs/research/npu-sharing/optimizations/R006-dynamic-kv-pages.md</a:t>
            </a:r>
          </a:p>
          <a:p xmlns:a="http://schemas.openxmlformats.org/drawingml/2006/main">
            <a:r>
              <a:t>/root/src/changhong94/AReaL/docs/research/npu-sharing/optimizations/R015-training-cache-parking-prefetch.md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statistics from up to three completed batches. The next training step needs both complete answer groups and the training device.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/root/src/changhong94/AReaL/docs/research/npu-sharing/optimizations/R004-adaptive-draining.md</a:t>
            </a:r>
          </a:p>
          <a:p xmlns:a="http://schemas.openxmlformats.org/drawingml/2006/main">
            <a:r>
              <a:t>/root/src/changhong94/AReaL/docs/research/npu-sharing/optimizations/R019-tail-estimation-and-sibling-ablation.md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R001 first considers queued work, then compatible running requests. Accepted exploration permits five requests per probe, two attempts and a two-second cumulative transaction admission budget. Positive-gain plans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/root/src/changhong94/AReaL/docs/research/npu-sharing/optimizations/R001-runtime-request-rebalancing.md</a:t>
            </a:r>
          </a:p>
          <a:p xmlns:a="http://schemas.openxmlformats.org/drawingml/2006/main">
            <a:r>
              <a:t>/root/src/changhong94/AReaL/docs/research/npu-sharing/experiments/2026-10-19-r001-accepted-policy.md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target ceil(C × R / F), with equivalent compatible replicas. C is baseline question concurrency, R ready replicas, F dedicated replicas. TP ranks are not replicas.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/root/src/changhong94/AReaL/docs/research/npu-sharing/optimizations/R025-adaptive-inference-concurrency.md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Decide at training completion using current batch readiness and recent measured transition costs. Missing evidence triggers calibration. Formal results primarily validate the next-batch-ready shortcut.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/root/src/changhong94/AReaL/docs/research/npu-sharing/optimizations/R027-profit-aware-inference-return.md</a:t>
            </a:r>
          </a:p>
          <a:p xmlns:a="http://schemas.openxmlformats.org/drawingml/2006/main">
            <a:r>
              <a:t>/root/src/changhong94/AReaL/docs/research/npu-sharing/experiments/2026-10-21-r027-resident-training.md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HCCL and snapshot readers remove unnecessary cross-branch waiting. Each branch must acknowledge before its admission opens. Actor mutation waits for active readers.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/root/src/changhong94/AReaL/docs/research/npu-sharing/optimizations/R009-independent-snapshot-reader.md</a:t>
            </a:r>
          </a:p>
          <a:p xmlns:a="http://schemas.openxmlformats.org/drawingml/2006/main">
            <a:r>
              <a:t>/root/src/changhong94/AReaL/docs/research/npu-sharing/optimizations/R010-background-step-tail.md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Ownership, version consistency and rank-local budgets take priority over load balancing. Paused same-version TP1 and TP2 probes preserve 256 deterministic tokens and exact logged probabilities.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/root/src/changhong94/AReaL/docs/research/npu-sharing/optimizations/R027-profit-aware-inference-return.md</a:t>
            </a:r>
          </a:p>
          <a:p xmlns:a="http://schemas.openxmlformats.org/drawingml/2006/main">
            <a:r>
              <a:t>/root/src/changhong94/AReaL/docs/research/npu-sharing/optimizations/R001-runtime-request-rebalancing.md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Reused engines accelerate exploration but can change runtime state. Formal comparisons initialize each arm independently. Source, workload and observation switches must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/root/src/changhong94/AReaL/docs/research/npu-sharing/methodology.md</a:t>
            </a:r>
          </a:p>
          <a:p xmlns:a="http://schemas.openxmlformats.org/drawingml/2006/main">
            <a:r>
              <a:t>/root/src/changhong94/AReaL/docs/research/npu-sharing/optimizations/R023-observability-and-reproducibility.md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Independent-start comparison on 2026-10-19: fixed 179.232 s, shared 152.847 s, 576 answers per arm, 137098/138424 tokens, ten confirmed imports. This is a historical configuration, not the current graph result or an isolated R001 ablation.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/root/src/changhong94/AReaL/docs/research/npu-sharing/experiments/2026-10-19-r001-accepted-policy.md</a:t>
            </a:r>
          </a:p>
          <a:p xmlns:a="http://schemas.openxmlformats.org/drawingml/2006/main">
            <a:r>
              <a:t>/root/src/changhong94/AReaL/docs/research/npu-sharing/experiments/evidence/r001-moderated-20261019/accepted.json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Static-16 shared loops averaged 181.08s, capacity policy 153.20s, a 15.40% reduction. Two reused-engine trials per mode. Tokens fell 1.72%. Static32 and independent-start controls remain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/root/src/changhong94/AReaL/docs/research/npu-sharing/experiments/2026-10-20-r025-capacity-admission.md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independent-start FSDP comparisons with full inference graphs and eager training. 96 questions, six answers, batch size16, concurrency16, six batches, offpolicy2. Savings9.01% and8.96%, aggregate8.99%. These validate the combined shared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/root/src/changhong94/AReaL/docs/research/npu-sharing/experiments/2026-10-21-r027-resident-training.md</a:t>
            </a:r>
          </a:p>
          <a:p xmlns:a="http://schemas.openxmlformats.org/drawingml/2006/main">
            <a:r>
              <a:t>/root/src/changhong94/AReaL/docs/research/npu-sharing/experiments/2026-10-21-r027-formal.json</a:t>
            </a:r>
          </a:p>
          <a:p xmlns:a="http://schemas.openxmlformats.org/drawingml/2006/main">
            <a:r>
              <a:t>/root/src/changhong94/AReaL/docs/research/npu-sharing/experiments/2026-10-21-r027-formal-repeat.json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Graph-mode support is validated for the recorded two-NPU FSDP workload. Equal-TP multi-peer transport probes establish functional correctness, not scaling benefit. Today’s Megatron R027 publication fix passed30 CPU tests and awaits NPU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/root/src/changhong94/AReaL/docs/research/npu-sharing/experiments/2026-10-21-r027-resident-training.md</a:t>
            </a:r>
          </a:p>
          <a:p xmlns:a="http://schemas.openxmlformats.org/drawingml/2006/main">
            <a:r>
              <a:t>/root/src/changhong94/AReaL/docs/research/npu-sharing/experiments/2026-10-19-r001-tp2-megatron.md</a:t>
            </a:r>
          </a:p>
          <a:p xmlns:a="http://schemas.openxmlformats.org/drawingml/2006/main">
            <a:r>
              <a:t>/root/src/changhong94/AReaL/docs/research/npu-sharing/optimizations/R001-runtime-request-rebalancing.md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removed sibling scaling, non-triggering gates, memory overhead and context-dependent TP results. Graph Qwen2-7B screening improved TP2 completion15.21–28.57%, but cross-TP live migration is unimplemented.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/root/src/changhong94/AReaL/docs/research/npu-sharing/optimizations/R019-tail-estimation-and-sibling-ablation.md</a:t>
            </a:r>
          </a:p>
          <a:p xmlns:a="http://schemas.openxmlformats.org/drawingml/2006/main">
            <a:r>
              <a:t>/root/src/changhong94/AReaL/docs/research/npu-sharing/optimizations/R020-tp-tail-negative-result.md</a:t>
            </a:r>
          </a:p>
          <a:p xmlns:a="http://schemas.openxmlformats.org/drawingml/2006/main">
            <a:r>
              <a:t>/root/src/changhong94/AReaL/docs/research/npu-sharing/experiments/2026-10-20-r026-qwen2-7b-graph-tp-screen.md</a:t>
            </a:r>
          </a:p>
          <a:p xmlns:a="http://schemas.openxmlformats.org/drawingml/2006/main">
            <a:r>
              <a:t>/root/src/changhong94/AReaL/docs/research/npu-sharing/experiments/2026-10-21-r027-resident-training.md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strongest current claim is whole-system improvement on recorded workloads. Next work isolates the three mechanisms, tests stronger baselines and quality, and extends support carefully.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/root/src/changhong94/AReaL/docs/research/npu-sharing/roadmap.md</a:t>
            </a:r>
          </a:p>
          <a:p xmlns:a="http://schemas.openxmlformats.org/drawingml/2006/main">
            <a:r>
              <a:t>/root/src/changhong94/AReaL/docs/research/npu-sharing/methodology.md</a:t>
            </a:r>
          </a:p>
          <a:p xmlns:a="http://schemas.openxmlformats.org/drawingml/2006/main">
            <a:r>
              <a:t>/root/src/changhong94/AReaL/docs/research/npu-sharing/optimizations/R026-tail-acceleration-via-tp-migration.md</a:t>
            </a:r>
          </a:p>
          <a:p xmlns:a="http://schemas.openxmlformats.org/drawingml/2006/main">
            <a:r>
              <a:t>/root/src/changhong94/AReaL/docs/research/npu-sharing/optimizations/R028-multinode-training-inference-sharing.md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defaults differ from the16×6 evidence workload. Coverage varies batch sizes16/32/64 and answer counts4/8/16.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/root/src/changhong94/AReaL/docs/research/npu-sharing/../../../benchmark/npu_share/README.md</a:t>
            </a:r>
          </a:p>
          <a:p xmlns:a="http://schemas.openxmlformats.org/drawingml/2006/main">
            <a:r>
              <a:t>/root/src/changhong94/AReaL/docs/research/npu-sharing/../../../benchmark/npu_share/COVERAGE_PLAN.md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 live under docs/research/npu-sharing. The deck records updated status without overwriting historical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on host 7.150.15.118:</a:t>
            </a:r>
          </a:p>
          <a:p xmlns:a="http://schemas.openxmlformats.org/drawingml/2006/main">
            <a:r>
              <a:t>/root/src/changhong94/AReaL/docs/research/npu-sharing/report/README.md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cutoff: 2026-10-21 America/Vancouver. Source files can contain historical statements superseded by later appendices. This deck labels the scope of each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4038c023845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e0011b1694b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269ac151a47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7d1250c6c4c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9d8605ca548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f926a165d4d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2F628E-CB9C-42C3-B3DB-9D0065B33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EB9E64-D402-41BF-9D0A-43249DB4BB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279333-EF8B-48DF-AC3A-606FA1F47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02CB3A-9664-40A5-9E41-1EEB6AA7C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C7EE31-19E7-4538-BDDF-79241600E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45218E-2E0C-4D80-ACAB-E8AC57424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DC0A0E-D19F-403A-9B70-B66AE1414B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32FAFE-0FA1-4B18-90B1-35E8557A2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6E6BCB-230D-4F00-BAC1-CB8B28153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14279D-0AB3-4759-A6FD-24A2BDE030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3481cdb564ece" /><Relationship Type="http://schemas.openxmlformats.org/officeDocument/2006/relationships/slideLayout" Target="/ppt/slideLayouts/slideLayout1.xml" Id="R70b5fd8742024dac" /><Relationship Type="http://schemas.openxmlformats.org/officeDocument/2006/relationships/slideLayout" Target="/ppt/slideLayouts/slideLayout2.xml" Id="R91f85df0aa0044b6" /><Relationship Type="http://schemas.openxmlformats.org/officeDocument/2006/relationships/slideLayout" Target="/ppt/slideLayouts/slideLayout3.xml" Id="Rff2ce7d8117a4ea1" /><Relationship Type="http://schemas.openxmlformats.org/officeDocument/2006/relationships/slideLayout" Target="/ppt/slideLayouts/slideLayout4.xml" Id="Rcc2c701ec3f843c7" /><Relationship Type="http://schemas.openxmlformats.org/officeDocument/2006/relationships/slideLayout" Target="/ppt/slideLayouts/slideLayout5.xml" Id="R7c54ef3996e84d56" /><Relationship Type="http://schemas.openxmlformats.org/officeDocument/2006/relationships/slideLayout" Target="/ppt/slideLayouts/slideLayout6.xml" Id="R2efdbc4c2f3945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5fd8742024dac"/>
    <p:sldLayoutId xmlns:r="http://schemas.openxmlformats.org/officeDocument/2006/relationships" id="2147483650" r:id="R91f85df0aa0044b6"/>
    <p:sldLayoutId xmlns:r="http://schemas.openxmlformats.org/officeDocument/2006/relationships" id="2147483651" r:id="Rff2ce7d8117a4ea1"/>
    <p:sldLayoutId xmlns:r="http://schemas.openxmlformats.org/officeDocument/2006/relationships" id="2147483652" r:id="Rcc2c701ec3f843c7"/>
    <p:sldLayoutId xmlns:r="http://schemas.openxmlformats.org/officeDocument/2006/relationships" id="2147483653" r:id="R7c54ef3996e84d56"/>
    <p:sldLayoutId xmlns:r="http://schemas.openxmlformats.org/officeDocument/2006/relationships" id="2147483654" r:id="R2efdbc4c2f3945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1109a71de4e56" /><Relationship Type="http://schemas.openxmlformats.org/officeDocument/2006/relationships/notesSlide" Target="/ppt/notesSlides/notesSlide1.xml" Id="Reaceeb759834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e0d9d97b04e6c" /><Relationship Type="http://schemas.openxmlformats.org/officeDocument/2006/relationships/notesSlide" Target="/ppt/notesSlides/notesSlide2.xml" Id="Rd45b19a10eea4c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c95339571491c" /><Relationship Type="http://schemas.openxmlformats.org/officeDocument/2006/relationships/notesSlide" Target="/ppt/notesSlides/notesSlide3.xml" Id="Re3a75773abeb4c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954f086744a5a" /><Relationship Type="http://schemas.openxmlformats.org/officeDocument/2006/relationships/image" Target="/ppt/media/image.png" Id="Radf802e8d2974ccf" /><Relationship Type="http://schemas.openxmlformats.org/officeDocument/2006/relationships/notesSlide" Target="/ppt/notesSlides/notesSlide4.xml" Id="Rcd903fbaffcc47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0227514974707" /><Relationship Type="http://schemas.openxmlformats.org/officeDocument/2006/relationships/image" Target="/ppt/media/image2.png" Id="Re0b176b908544271" /><Relationship Type="http://schemas.openxmlformats.org/officeDocument/2006/relationships/notesSlide" Target="/ppt/notesSlides/notesSlide5.xml" Id="R40cc295ec9cd41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18daa92374501" /><Relationship Type="http://schemas.openxmlformats.org/officeDocument/2006/relationships/notesSlide" Target="/ppt/notesSlides/notesSlide6.xml" Id="R8798211dae424c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4fd3b14104179" /><Relationship Type="http://schemas.openxmlformats.org/officeDocument/2006/relationships/image" Target="/ppt/media/image3.png" Id="R7ef99c898a8c40bb" /><Relationship Type="http://schemas.openxmlformats.org/officeDocument/2006/relationships/notesSlide" Target="/ppt/notesSlides/notesSlide7.xml" Id="R3125cc75d18c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5fc2788c44230" /><Relationship Type="http://schemas.openxmlformats.org/officeDocument/2006/relationships/notesSlide" Target="/ppt/notesSlides/notesSlide8.xml" Id="R2333e1b8d7fa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6a6bf815c4f4c" /><Relationship Type="http://schemas.openxmlformats.org/officeDocument/2006/relationships/notesSlide" Target="/ppt/notesSlides/notesSlide9.xml" Id="R77ddeb0299534f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70b188a404a64" /><Relationship Type="http://schemas.openxmlformats.org/officeDocument/2006/relationships/image" Target="/ppt/media/image4.png" Id="R4161471b46aa4305" /><Relationship Type="http://schemas.openxmlformats.org/officeDocument/2006/relationships/notesSlide" Target="/ppt/notesSlides/notesSlide10.xml" Id="R01752f903c8445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88bc2becf4d96" /><Relationship Type="http://schemas.openxmlformats.org/officeDocument/2006/relationships/notesSlide" Target="/ppt/notesSlides/notesSlide11.xml" Id="Rff4ca31e72754d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659672fec4501" /><Relationship Type="http://schemas.openxmlformats.org/officeDocument/2006/relationships/notesSlide" Target="/ppt/notesSlides/notesSlide12.xml" Id="R31fb358256354e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e1639a28546bb" /><Relationship Type="http://schemas.openxmlformats.org/officeDocument/2006/relationships/chart" Target="/ppt/slides/charts/chart1.xml" Id="R8e8146ee688e4694" /><Relationship Type="http://schemas.openxmlformats.org/officeDocument/2006/relationships/notesSlide" Target="/ppt/notesSlides/notesSlide13.xml" Id="R42792f738ee845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3be3107954bf9" /><Relationship Type="http://schemas.openxmlformats.org/officeDocument/2006/relationships/chart" Target="/ppt/slides/charts/chart2.xml" Id="R1abf7986d7b44148" /><Relationship Type="http://schemas.openxmlformats.org/officeDocument/2006/relationships/notesSlide" Target="/ppt/notesSlides/notesSlide14.xml" Id="Rb8cf016ea1e240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371a968404c58" /><Relationship Type="http://schemas.openxmlformats.org/officeDocument/2006/relationships/chart" Target="/ppt/slides/charts/chart3.xml" Id="Re1899c4521d843d1" /><Relationship Type="http://schemas.openxmlformats.org/officeDocument/2006/relationships/notesSlide" Target="/ppt/notesSlides/notesSlide15.xml" Id="R90a1925da84348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d5594739e4789" /><Relationship Type="http://schemas.openxmlformats.org/officeDocument/2006/relationships/notesSlide" Target="/ppt/notesSlides/notesSlide16.xml" Id="R5c76315335dc44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2c89324e84538" /><Relationship Type="http://schemas.openxmlformats.org/officeDocument/2006/relationships/notesSlide" Target="/ppt/notesSlides/notesSlide17.xml" Id="R7697935033aa4b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089e3b8db4348" /><Relationship Type="http://schemas.openxmlformats.org/officeDocument/2006/relationships/notesSlide" Target="/ppt/notesSlides/notesSlide18.xml" Id="R8b440b5f720448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fd983738741cd" /><Relationship Type="http://schemas.openxmlformats.org/officeDocument/2006/relationships/notesSlide" Target="/ppt/notesSlides/notesSlide19.xml" Id="Rfec43cb7dfdb41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53aeed0c14ff9" /><Relationship Type="http://schemas.openxmlformats.org/officeDocument/2006/relationships/notesSlide" Target="/ppt/notesSlides/notesSlide20.xml" Id="R8fde59ca857d470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</c:v>
          </c:tx>
          <c:spPr>
            <a:solidFill xmlns:a="http://schemas.openxmlformats.org/drawingml/2006/main">
              <a:srgbClr val="377ABC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Independent-start pair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179.232</c:v>
                </c:pt>
              </c:numCache>
            </c:numRef>
          </c:val>
        </c:ser>
        <c:ser>
          <c:idx val="1"/>
          <c:order val="1"/>
          <c:tx>
            <c:v>Shared</c:v>
          </c:tx>
          <c:spPr>
            <a:solidFill xmlns:a="http://schemas.openxmlformats.org/drawingml/2006/main">
              <a:srgbClr val="0C8675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Independent-start pair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152.847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B4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Training-loop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Static 16</c:v>
          </c:tx>
          <c:spPr>
            <a:solidFill xmlns:a="http://schemas.openxmlformats.org/drawingml/2006/main">
              <a:srgbClr val="377AB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179.51</c:v>
                </c:pt>
                <c:pt idx="1">
                  <c:v>182.65</c:v>
                </c:pt>
              </c:numCache>
            </c:numRef>
          </c:val>
        </c:ser>
        <c:ser>
          <c:idx val="1"/>
          <c:order val="1"/>
          <c:tx>
            <c:v>R025 capacity</c:v>
          </c:tx>
          <c:spPr>
            <a:solidFill xmlns:a="http://schemas.openxmlformats.org/drawingml/2006/main">
              <a:srgbClr val="0C8675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157.22</c:v>
                </c:pt>
                <c:pt idx="1">
                  <c:v>149.18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B4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Training-loop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Fixed</c:v>
          </c:tx>
          <c:spPr>
            <a:solidFill xmlns:a="http://schemas.openxmlformats.org/drawingml/2006/main">
              <a:srgbClr val="377AB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88.489</c:v>
                </c:pt>
                <c:pt idx="1">
                  <c:v>83.062</c:v>
                </c:pt>
              </c:numCache>
            </c:numRef>
          </c:val>
        </c:ser>
        <c:ser>
          <c:idx val="1"/>
          <c:order val="1"/>
          <c:tx>
            <c:v>Shared</c:v>
          </c:tx>
          <c:spPr>
            <a:solidFill xmlns:a="http://schemas.openxmlformats.org/drawingml/2006/main">
              <a:srgbClr val="0C8675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Pair 1</c:v>
                </c:pt>
                <c:pt idx="1">
                  <c:v>Pair 2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80.514</c:v>
                </c:pt>
                <c:pt idx="1">
                  <c:v>75.617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B49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Training-loop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7FA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7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CFFB7-0A86-437D-863F-A64354C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NPU Sharing for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Asynchronous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C08BC-98D0-4428-A96A-90EF918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97061-0AA3-4B63-A453-D7AA0310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7DBE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7DBEC"/>
                </a:solidFill>
                <a:latin typeface="Arial"/>
                <a:ea typeface="Arial"/>
                <a:cs typeface="Arial"/>
              </a:rPr>
              <a:t>Resource sharing, readiness scheduling and weight publication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9C6F8-4B66-44BF-AEC2-06952DA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DAD0"/>
                </a:solidFill>
                <a:latin typeface="Arial"/>
                <a:ea typeface="Arial"/>
                <a:cs typeface="Arial"/>
              </a:rPr>
              <a:t>Research review draft 0.2</a:t>
            </a:r>
          </a:p>
          <a:p xmlns:a="http://schemas.openxmlformats.org/drawingml/2006/main">
            <a:pPr>
              <a:defRPr sz="1725" b="0">
                <a:solidFill>
                  <a:srgbClr val="A8DA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DAD0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58580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9B5CE-5804-467B-9590-363F67B0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The objective is earlier training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08D5E-D63E-4CCB-BE24-2C51D71A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F2A2F-6DF0-461D-A4DF-5F72F4EF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Fixed allocation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0425C-7A8B-41B4-A8F5-85688F2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Dedicated inference produces answers while the training group waits for a complete batch.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E148E-6090-4EF1-BBFE-AE13BBA2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Shared allocation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99150-C7F9-4E26-8396-88BD374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The training devices run extra inference when their capacity can shorten batch readiness.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5FDE3-7C0E-418F-B88C-D08BE39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Critical-path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5F74A-58A4-4C25-90A4-11A7252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Useful progress must exceed switching, memory movement and publication costs.</a:t>
            </a:r>
          </a:p>
        </p:txBody>
      </p:sp>
    </p:spTree>
    <p:extLst>
      <p:ext uri="{BB962C8B-B14F-4D97-AF65-F5344CB8AC3E}">
        <p14:creationId xmlns:p14="http://schemas.microsoft.com/office/powerpoint/2010/main" val="560686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9B492-7E9D-4BD5-9534-2206850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Three core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69B22-CA46-4E02-B1A4-9EC7FE3C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B7965-EAAC-4715-AB82-11A350A6EA63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00500"/>
                <a:gridCol w="3638550"/>
              </a:tblGrid>
              <a:tr h="8691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Recent extension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M1  Resource and memory sharing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Borrow capacity with training priority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Resident training cache budget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M2  Readiness scheduling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Admit, drain and migrate requests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R025 concurrency, R027 return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M3  Weight publication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Resume each ready replica independently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Skip unnecessary shared publication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1CBC7-6D8D-4BB5-8F27-0440325B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R001–R028 are traceable records, not 28 independent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389741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1D3EE-0CC3-4230-A5AB-8378C23D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M1: borrow training capacity safely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98F95-3D0D-4253-9DAA-F9915C8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BF77D-D881-42E3-91C7-12D866756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802e8d2974ccf"/>
          <a:srcRect xmlns:a="http://schemas.openxmlformats.org/drawingml/2006/main" l="2500" t="24500" r="2500" b="30000"/>
          <a:stretch xmlns:a="http://schemas.openxmlformats.org/drawingml/2006/main"/>
        </p:blipFill>
        <p:spPr>
          <a:xfrm xmlns:a="http://schemas.openxmlformats.org/drawingml/2006/main">
            <a:off x="533400" y="1685925"/>
            <a:ext cx="111252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CE5E1-C3E5-4193-81B4-028DD7E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01217-FC62-437B-BA12-FBD2399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Training keeps priority. Sharing changes device roles, not training-group membership.</a:t>
            </a:r>
          </a:p>
        </p:txBody>
      </p:sp>
    </p:spTree>
    <p:extLst>
      <p:ext uri="{BB962C8B-B14F-4D97-AF65-F5344CB8AC3E}">
        <p14:creationId xmlns:p14="http://schemas.microsoft.com/office/powerpoint/2010/main" val="1156999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6CA88-03E6-4B7D-94ED-CA848594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M1: reclaim memory only when needed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10069-9C0F-4ED0-93A3-F95E67AE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4E4DA-9E8B-49E6-9C39-BF2C16FC9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176b908544271"/>
          <a:srcRect xmlns:a="http://schemas.openxmlformats.org/drawingml/2006/main" l="2500" t="24500" r="2500" b="25000"/>
          <a:stretch xmlns:a="http://schemas.openxmlformats.org/drawingml/2006/main"/>
        </p:blipFill>
        <p:spPr>
          <a:xfrm xmlns:a="http://schemas.openxmlformats.org/drawingml/2006/main">
            <a:off x="533400" y="1685925"/>
            <a:ext cx="111252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6D270-FB09-4E65-A6C2-EA888B2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10340-EE6B-45C0-8446-E3BF200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Memory savings and lower loop time are separate outcomes that require separate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62325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13C46-AC4E-4736-A91B-68D147A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M2: predict data and device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24FD7-42B4-4729-B8FB-D5ED22E6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E470F-9D99-4670-A3E1-CF0B6ED3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Next training start ≈ max(data ready, device ready)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EE4A9-4671-41F5-8761-DC8AA51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CA2C5-CC18-4807-BE6D-782A4C61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Estimate completion of all required answers within each question group.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D8CB2-2E7C-4071-80F9-9D0EF99F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Device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49F05-EB05-4C10-A870-02FF330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Include draining, migration, memory restoration and publication fences.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75C2A-09FB-4A70-8BE8-A6BD3962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Completed-batch windows provide causal inputs. Prediction accuracy still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2132257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31FCA-F673-4D52-B5D5-EEC32C98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M2: move running work with bounded KV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140C4-D9D4-410C-9508-B1648D1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54C43-C7CD-4C20-B93A-832B37F47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99c898a8c40bb"/>
          <a:srcRect xmlns:a="http://schemas.openxmlformats.org/drawingml/2006/main" l="2500" t="24500" r="2500" b="30000"/>
          <a:stretch xmlns:a="http://schemas.openxmlformats.org/drawingml/2006/main"/>
        </p:blipFill>
        <p:spPr>
          <a:xfrm xmlns:a="http://schemas.openxmlformats.org/drawingml/2006/main">
            <a:off x="533400" y="1685925"/>
            <a:ext cx="11125200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A97D8-F473-4618-9183-4C20FDD1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B7C3E-D62A-4EEC-B479-4804FDE4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Confirmed import_applied events establish completed KV handoffs. Attempts alone do not.</a:t>
            </a:r>
          </a:p>
        </p:txBody>
      </p:sp>
    </p:spTree>
    <p:extLst>
      <p:ext uri="{BB962C8B-B14F-4D97-AF65-F5344CB8AC3E}">
        <p14:creationId xmlns:p14="http://schemas.microsoft.com/office/powerpoint/2010/main" val="1138776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D1579-78B3-4135-B790-CD11A6E9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R025: admission follows available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48384-262F-43A5-AF7A-C6A86B7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FD760-749D-40D3-8C54-753A9909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Target = ceil(C × R / F)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4B93B-0D88-4881-9437-790F358C3E66}"/>
              </a:ext>
            </a:extLst>
          </p:cNvPr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09728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10050"/>
                <a:gridCol w="1352550"/>
                <a:gridCol w="1352550"/>
                <a:gridCol w="1352550"/>
                <a:gridCol w="1352550"/>
                <a:gridCol w="135255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Ready / dedicated capacity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1.5×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Question target at C = 16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2D1D4-5D37-478A-A316-36F6E844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Growth is gradual and stops under router backlog.</a:t>
            </a:r>
          </a:p>
          <a:p xmlns:a="http://schemas.openxmlformats.org/drawingml/2006/main">
            <a:pPr>
              <a:defRPr sz="210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Off-policy, native sequence/token and per-rank memory limits still apply.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93028-DECA-480E-8D89-E67A2282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The implemented policy follows ready capacity; throughput-weighted feedback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396753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EF509-6A66-4052-AC91-9717AA8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R027: return to inference only when useful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5868E-40A1-4EBE-8653-636041CA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C1109-D325-426D-BE69-C60EB16B88DB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543550"/>
              </a:tblGrid>
              <a:tr h="6762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state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Next batch is already complete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Keep the device resident for training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Extra inference has predicted net benefit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Return to inference and record the actual cost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History is insufficient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Return normally to collect calibration 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Paused work remains after a keep decision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Evacuate every paused request to fixed inference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D67DD-3C7F-43C2-A285-F9E6EEB4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Skipping a return also skips shared snapshots and memory switching. Fixed weights still update.</a:t>
            </a:r>
          </a:p>
        </p:txBody>
      </p:sp>
    </p:spTree>
    <p:extLst>
      <p:ext uri="{BB962C8B-B14F-4D97-AF65-F5344CB8AC3E}">
        <p14:creationId xmlns:p14="http://schemas.microsoft.com/office/powerpoint/2010/main" val="2128301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71143-C55C-4CFF-83A6-C09E995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M3: publish to each replica independently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D3A7D-A226-4E84-BAF4-CBF57CAA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E9826-8B1E-467C-9E3D-142EB18C04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1471b46aa4305"/>
          <a:srcRect xmlns:a="http://schemas.openxmlformats.org/drawingml/2006/main" l="2500" t="24500" r="2500" b="25000"/>
          <a:stretch xmlns:a="http://schemas.openxmlformats.org/drawingml/2006/main"/>
        </p:blipFill>
        <p:spPr>
          <a:xfrm xmlns:a="http://schemas.openxmlformats.org/drawingml/2006/main">
            <a:off x="533400" y="1685925"/>
            <a:ext cx="1112520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C1FB5-5912-44F2-A95A-B347DBE3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Mechanism schematic. Geometry does not represent measured time or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0339B-23AA-49EC-8CDE-B7720B6F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A fixed replica resumes after its own update. Shared restoration can continue in the background.</a:t>
            </a:r>
          </a:p>
        </p:txBody>
      </p:sp>
    </p:spTree>
    <p:extLst>
      <p:ext uri="{BB962C8B-B14F-4D97-AF65-F5344CB8AC3E}">
        <p14:creationId xmlns:p14="http://schemas.microsoft.com/office/powerpoint/2010/main" val="6128331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CFA34-433C-4FF4-ACD4-72513A69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Correctness defines the migration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32781-8ECE-48E1-88A1-41ACCCF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E41F8-B10F-4F29-AADA-86D25232BBEB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73405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behavior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Same version and compatible equal-TP layout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Transfer KV with per-rank preflight and import 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Different weight versions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Replay the token prefix under target weights; no KV reuse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A device remains assigned to training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Evacuate paused work even when migration is expensive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Ambiguous transfer or ownership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Stop and reconcile rather than duplicate execution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7ED51-D9E6-4D2D-A245-4BE87FF8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Matching layout does not make KV from different weight versions semantically interchangeable.</a:t>
            </a:r>
          </a:p>
        </p:txBody>
      </p:sp>
    </p:spTree>
    <p:extLst>
      <p:ext uri="{BB962C8B-B14F-4D97-AF65-F5344CB8AC3E}">
        <p14:creationId xmlns:p14="http://schemas.microsoft.com/office/powerpoint/2010/main" val="1558126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614C8-EBC0-4FDA-811C-3FDB81EE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Evaluation separates exploration from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883D3-0947-4967-9A8E-AC5F25A6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2E638-F382-46ED-A0C4-149E0D63FC8C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Development comparisons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Formal confirmation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Reuse vLLM with verified initial-weight reset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Start engines independently for each arm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Recreate training and optimizer state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Report initialization separately from loop time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Alternate policies and retain every repetition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Match model, questions, source and tracing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Use results to choose the next candidate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Report tokens, quality, migrations and variability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E71E5-C696-477F-98F8-A369C5ED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Identical questions and settings do not guarantee identical generated answers or microbatches.</a:t>
            </a:r>
          </a:p>
        </p:txBody>
      </p:sp>
    </p:spTree>
    <p:extLst>
      <p:ext uri="{BB962C8B-B14F-4D97-AF65-F5344CB8AC3E}">
        <p14:creationId xmlns:p14="http://schemas.microsoft.com/office/powerpoint/2010/main" val="189694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022AC-2C02-4E50-9357-E4EEF4C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Earlier shared-system result: 14.72% less loop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D9A49-6AD8-4661-B69F-7B4D2ADB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AA4E8-482A-48E9-8817-F4BC84DF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Historical configuration, 19 October 2026. Independent engine startup.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A5EF439-D529-447F-A3CC-E8C3CE3F5CDE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7524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146ee688e469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216F1-3260-420A-90C3-6EFE8D0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14.72%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D31F6-50D4-4E39-B03B-4C8C490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lower loop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576 answers per arm</a:t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10 confirmed KV imports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F0C50-0FCC-4675-90C0-3836F59D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Whole-system comparison. The marginal contribution of KV migration remains an ablation question.</a:t>
            </a:r>
          </a:p>
        </p:txBody>
      </p:sp>
    </p:spTree>
    <p:extLst>
      <p:ext uri="{BB962C8B-B14F-4D97-AF65-F5344CB8AC3E}">
        <p14:creationId xmlns:p14="http://schemas.microsoft.com/office/powerpoint/2010/main" val="984674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27365-FB8A-4A37-8CF8-9166D84C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R025 development result: higher useful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5A34B-AA59-4A61-B7F6-D49EA5C2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3676D-6BAB-4B5A-8A0D-99499F4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Development comparison, 20 October 2026. Two reused-engine trials per policy.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D264423-F70B-4543-9296-62EE413EE2E7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7524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bf7986d7b441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BD77B-CBA1-40E1-B394-D1383ED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15.40%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B49D9-7C0F-4CC2-80BE-CDFBE3F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952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mean time reduction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Question overlap:</a:t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16 to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Development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44D3D-11DF-4742-A732-E0B0537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This result does not establish an advantage over a well-tuned static-32 baseline.</a:t>
            </a:r>
          </a:p>
        </p:txBody>
      </p:sp>
    </p:spTree>
    <p:extLst>
      <p:ext uri="{BB962C8B-B14F-4D97-AF65-F5344CB8AC3E}">
        <p14:creationId xmlns:p14="http://schemas.microsoft.com/office/powerpoint/2010/main" val="73899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DE384-2421-4199-8FC6-5C93EB0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Graph-mode confirmation: about 9% less loop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D1550-65A7-470B-9F35-14D9697C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E158D-7D5B-460F-929C-761AF77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Qwen2.5-1.5B-Instruct, FSDP, 2 NPUs. Full inference graphs, eager training.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254FB90-F550-4F86-8F9E-82FC7BCD2AE3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7524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899c4521d843d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1B459-3DAD-4212-82ED-D9BB271E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8.99%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54F64-C608-4545-88B9-04D3A3CB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95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aggregate time saved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576 answers per arm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Shared token change:</a:t>
            </a:r>
          </a:p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+0.16% / −0.91%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4EA92-8814-4C9E-B301-5EAD3F96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Most skips occurred after the next batch was already ready. Forecast-only benefit remains unproven.</a:t>
            </a:r>
          </a:p>
        </p:txBody>
      </p:sp>
    </p:spTree>
    <p:extLst>
      <p:ext uri="{BB962C8B-B14F-4D97-AF65-F5344CB8AC3E}">
        <p14:creationId xmlns:p14="http://schemas.microsoft.com/office/powerpoint/2010/main" val="256156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DA80F-7115-4B40-8282-3D02502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Support and validation have different scopes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DEA09-41BD-47BB-8E3B-A0A510E9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5B3BC-CEBC-4137-912F-0CEC3CE4008C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21030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/ current limit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Inference graphs with eager training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Two-NPU FSDP formal pairs completed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TP2, multiple equal-TP replicas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Eight-NPU probe confirmed all four directed edges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Megatron shared RL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Earlier TP2 loop benefit 3.69%; startup-inclusive time regressed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R027 + Megatron, current 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Publication path repaired; NPU rerun still pending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5DB2D-34AD-4798-8A62-34E7B005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Full configuration coverage is ongoing. A successful transport probe is not a scaling claim.</a:t>
            </a:r>
          </a:p>
        </p:txBody>
      </p:sp>
    </p:spTree>
    <p:extLst>
      <p:ext uri="{BB962C8B-B14F-4D97-AF65-F5344CB8AC3E}">
        <p14:creationId xmlns:p14="http://schemas.microsoft.com/office/powerpoint/2010/main" val="1688614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1A8D3-8E20-4843-98F3-BDA27CA1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Negative results shape the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2F34F-BC93-4AD1-AA69-E05CEE3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0C871-AFFF-4992-90D6-60B4E0580394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5353050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Sibling-answer length scaling reduced benefit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Remove the heuristic; retain its ablation record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Some migration timing gates never fired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Do not count an inactive mechanism as a benefit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Early R027 variants were slower or inconsistent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Preserve resident-cache budgets and measure the whole loop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TP2 changes with model and execution mode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Screen workloads before considering R026 migration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055C6-E9D6-487E-B15A-155D363F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Lower memory use, more occupied devices and more migrations do not guarantee a faster RL loop.</a:t>
            </a:r>
          </a:p>
        </p:txBody>
      </p:sp>
    </p:spTree>
    <p:extLst>
      <p:ext uri="{BB962C8B-B14F-4D97-AF65-F5344CB8AC3E}">
        <p14:creationId xmlns:p14="http://schemas.microsoft.com/office/powerpoint/2010/main" val="9878133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D8959-C6EE-4868-A517-14C0050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Next evidence for a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DC7BE-5914-488F-9766-850DA02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A904E-7262-47C0-A356-4A6253F5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Isolate the mechanisms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E7060-322C-4129-BE2E-538E40E8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Matched M1/M2/M3 ablations, repeated seeds and a static-high-concurrency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2DF38-22F2-4E67-9602-7A7BE21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Validate performance together with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2B528-2BB5-420D-90BC-E67546F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Measure reward/accuracy, output work, policy age, prediction error and initialization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19B0D-1D54-4808-BC31-426A6AAF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3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Extend only after confirmation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137A4-B215-4A2B-9C66-E7284577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839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9"/>
                </a:solidFill>
                <a:latin typeface="Arial"/>
                <a:ea typeface="Arial"/>
                <a:cs typeface="Arial"/>
              </a:rPr>
              <a:t>Complete graph/Megatron coverage. Treat R026 cross-TP migration and R028 multi-node sharing as proposals.</a:t>
            </a:r>
          </a:p>
        </p:txBody>
      </p:sp>
    </p:spTree>
    <p:extLst>
      <p:ext uri="{BB962C8B-B14F-4D97-AF65-F5344CB8AC3E}">
        <p14:creationId xmlns:p14="http://schemas.microsoft.com/office/powerpoint/2010/main" val="10030400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4737A-BE37-4B5D-AE3D-A1021E8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Appendix: current benchmark defaults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402E5-43B2-478B-ADC0-2D553648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E93B2-ED71-43E0-A125-D2D78DF47877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09900"/>
                <a:gridCol w="300990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default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Formal graph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Training engine / NPUs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FSDP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FSDP / 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Questions per batch / answers per 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32 / 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16 / 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Question concurrency / batches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16 / 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16 / 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Offpolicy / inference mode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 / graph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 / graph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Shared policy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KV rebalance + capacity + R027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Same mechanisms; frozen recorded source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2B1C8-66DB-4443-999A-CE3B575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C86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8675"/>
                </a:solidFill>
                <a:latin typeface="Arial"/>
                <a:ea typeface="Arial"/>
                <a:cs typeface="Arial"/>
              </a:rPr>
              <a:t>Defaults describe operation. Performance claims remain attached to their exact recorded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0165196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37880-4EA5-4706-8D0A-BF7B1273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4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49"/>
                </a:solidFill>
                <a:latin typeface="Arial"/>
                <a:ea typeface="Arial"/>
                <a:cs typeface="Arial"/>
              </a:rPr>
              <a:t>Appendix: evidence and implementation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82984-9D8C-47AF-8582-0ACA818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16249-52D1-4F36-9172-F2DB2D9A3BB3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612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 in experiments/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142B49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Accepted migration configuration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2026-10-19-r001-accepted-policy.md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Dynamic concurrency development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2026-10-20-r025-capacity-admission.md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Graph-mode formal pairs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2026-10-21-r027-resident-training.md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TP2 Megatron comparison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2026-10-19-r001-tp2-megatron.md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EEF2F7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Current coverage failure and repair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9"/>
                          </a:solidFill>
                          <a:latin typeface="Arial"/>
                          <a:ea typeface="Arial"/>
                          <a:cs typeface="Arial"/>
                        </a:rPr>
                        <a:t>Report revision log, 2026-10-21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75984-76E6-42B1-89F0-D46BA97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Source checkout: 28cd7d1 with uncommitted changes at review time.</a:t>
            </a:r>
          </a:p>
          <a:p xmlns:a="http://schemas.openxmlformats.org/drawingml/2006/main">
            <a:pPr>
              <a:defRPr sz="17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Each experiment has its own frozen source and configuration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656785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2026-10-21T21:56:32.4500000Z</dcterms:created>
  <dcterms:modified xsi:type="dcterms:W3CDTF">2026-10-21T21:56:32.4500000Z</dcterms:modified>
</coreProperties>
</file>